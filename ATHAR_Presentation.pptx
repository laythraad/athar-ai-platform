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03C"/>
                </a:solidFill>
                <a:latin typeface="Segoe UI"/>
              </a:defRPr>
            </a:pPr>
            <a:r>
              <a:t>ATHAR AI  ×  MIKTUBATI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5EFE1"/>
                </a:solidFill>
                <a:latin typeface="Segoe UI"/>
              </a:defRPr>
            </a:pPr>
            <a:r>
              <a:t>منصّة التراث العراقي الذكية — قراءة، كتابة، أثر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4A6"/>
                </a:solidFill>
                <a:latin typeface="Segoe UI"/>
              </a:defRPr>
            </a:pPr>
            <a:r>
              <a:t>An AI-powered heritage &amp; literature platform for Iraq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فريق مورس  ·  Mors Team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4A6"/>
                </a:solidFill>
                <a:latin typeface="Segoe UI"/>
              </a:defRPr>
            </a:pPr>
            <a:r>
              <a:t>دليل شامل للحكام والزوار — Full guide for judges &amp; visitors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محتويات العرض  · 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What we'll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1. المشكلة والفرصة  ·  Problem &amp; Opportunity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2. الرؤية والحل  ·  Vision &amp; Solution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3. نظرة عامة على المنصّتين  ·  Two Platforms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4. ATHAR AI — الأطلس التراثي  ·  Heritage Atlas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5. MIKTUBATI — المكتبة الرقمية  ·  Digital Library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6. طبقة الذكاء الاصطناعي  ·  AI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7. الأمان والثقة  ·  Safety &amp; Trust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8. البنية التقنية  ·  Architecture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9. الأمانة العلمية  ·  Honesty Principles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10. تجربة المستخدم  ·  UX Walkthrough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11. الأثر والقابلية للتوسّع  ·  Impact &amp; Scale</a:t>
            </a:r>
          </a:p>
          <a:p>
            <a:pPr>
              <a:spcAft>
                <a:spcPts val="1400"/>
              </a:spcAft>
              <a:defRPr sz="1700">
                <a:solidFill>
                  <a:srgbClr val="F5EFE1"/>
                </a:solidFill>
                <a:latin typeface="Segoe UI"/>
              </a:defRPr>
            </a:pPr>
            <a:r>
              <a:t>12. الجولة السريعة  · 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المشكلة والفرصة  ·  Problem &amp;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🇲🇶 التراث مهدّد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العراق يمتلك أحد أغنى التراث في العالم — لكن معلوماته متناثرة بين مئات المواقع، بلا مصدر موحّد، وبلا أداة ذكية لاستكشافه.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25603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📚 الأدب مفقود رقمياً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المكتبات العراقية القديمة والحديثة لا تمتلك منصّة رقمية موحّدة تجمع الشعر والرواية والتاريخ بلغات متعددة.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474720" cy="25603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🤖 الذكاء الاصطناعي غربي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874519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كل أدوات AI الحالية مبنية على محتوى غربي — لا تفهم التراث العراقي، ولا تتحدث العربية بشكل صحيح.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3C"/>
                </a:solidFill>
                <a:latin typeface="Segoe UI"/>
              </a:defRPr>
            </a:pPr>
            <a:r>
              <a:t>الفرصة: بناء منصّة عربية أولاً تجمع التراث والأدب والذكاء الاصطناعي في تجربة واحدة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A94A6"/>
                </a:solidFill>
                <a:latin typeface="Segoe UI"/>
              </a:defRPr>
            </a:pPr>
            <a:r>
              <a:t>Opportunity: Build an Arabic-first platform uniting heritage, literature &amp; AI in one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الرؤية والحل  ·  Vision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03C"/>
                </a:solidFill>
                <a:latin typeface="Segoe UI"/>
              </a:defRPr>
            </a:pPr>
            <a:r>
              <a:t>"اقرأ. اكتب. اترك أثراً."</a:t>
            </a:r>
            <a:br/>
            <a:r>
              <a:t>"Read. Write. Leave your trace."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743200"/>
            <a:ext cx="850392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474720" cy="29260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18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🌍 أطلس تراثي ذكي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استكشف مواقع التراث العراقي مع مرشد AI يجيب بدقّة، يذكر المصادر، ويقول بصراحة حين لا يعرف.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108960"/>
            <a:ext cx="3474720" cy="29260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218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✍️ مكتبة رقمية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انشر أعمالك الأدبية، اقرأ أعمال الآخرين، ترجم لأي لغة، واحصل على تقييم نقدي ذكي.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108960"/>
            <a:ext cx="3474720" cy="29260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218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🤝 مجتمع موثوق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611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إشراف بشري + AI، تتبّع كامل، تقييمات حقيقية، وخصوصية تامة لبياناتك.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المنصّتان في نظرة واحدة  ·  Two Platforms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73152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3C"/>
                </a:solidFill>
                <a:latin typeface="Segoe UI"/>
              </a:defRPr>
            </a:pPr>
            <a:r>
              <a:t>ATHAR  ·  أثر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أطلس التراث العراقي الذكي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🗺  خريطة تفاعلية لكل المواقع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🤖  مرشد AI يجيب عن أي سؤال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📍  مواقع قريبة منك (geolocation)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✈️  مخطّط رحلات ذكي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🆘  أرقام طوارئ لكل دولة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🎮  تأشيرة سفر تفاعلية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👴  وضع كبار السن (تكبير)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🌐  18 لغة — عربي أولاً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5029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94960" cy="73152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CCA0"/>
                </a:solidFill>
                <a:latin typeface="Segoe UI"/>
              </a:defRPr>
            </a:pPr>
            <a:r>
              <a:t>MIKTUBATI  ·  مكتبتي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المكتبة الرقمية العراقية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📖  مكتبة شاملة — شعر، رواية، قصة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📤  انشر أعمالك بـ PDF أو نص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🔍  بحث ذكي في كل الأعمال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🌐  ترجمة فورية لأي لغة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⭐  تقييم المؤلفين (متوسّط Bayesian)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🛡  إشراف AI + بشري (fail-closed)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👶  وضع الأطفال — محتوى آمن</a:t>
            </a:r>
          </a:p>
          <a:p>
            <a:pPr>
              <a:spcAft>
                <a:spcPts val="8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🎮  استوديو إبداعي + تأشيرة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ATHAR AI — الأطلس التراثي 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Heritage Atlas Deep 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🔍 البحث الذكي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ابحث بالعربية أو الإنجليزية أو أي لغة. البحث يفهم التسميات البديلة والهجاء المختلف.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🗺 الخريطة التفاعلية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خريطة SVG خفيفة (لا Google Maps) — تشتغل دون اتصال، تعرض علامات لكل موقع.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🤖 مرشد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يسأل عن أي موقع: تاريخ، طرق الوصول، مقارنات — مع ذكر المصادر دائماً.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📍 مواقع قريبة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يكتشف موقعك ويعرض أقرب المواقع مع تقدير وقت الوصول بالسيارة.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✈️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✈️ مخطّط رحلات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يخطّط ليوم أو أسبوع بناءً على اهتماماتك وميزانية وقتك.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🆘 أرقام طوارئ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لكل دولة: شرطة، إسعاف، سياحة — محدّثة ومصدّرة من مصادر رسمية.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MIKTUBATI — المكتبة الرقمية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Digital Library Deep 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📤 النشر الذكي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ارفع PDF أو اكتب نصاً — الـ AI ينضّف، يراجع، ويصنّف تلقائياً.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📖 قارئ مدمج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قارئ PDF بالصفحة، التكبير، الحفظ، والمسودات الخاصة.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🤖 مساعد المكتبة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يلخّص، يقترح أفكاراً، ينشئ اختبارات، ويجيب من نصّ عملك.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🌐 الترجمة الفورية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ترجم أي عمل لأي لغة بضغطة — مع تنبيه أن الترجمة آلية.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⭐ تقييم Bayesian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متوسّط مرجّح لا يسمح لتقييم واحد أن يرفع أو يخفض مؤلفاً.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🛡 الإشراف الذكي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قواعد + Gemini → قرار: نشر، رفض، أو مراجعة بشرية. لا استثناء.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طبقة الذكاء الاصطناعي  ·  AI Layer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92024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3C"/>
                </a:solidFill>
                <a:latin typeface="Segoe UI"/>
              </a:defRPr>
            </a:pPr>
            <a:r>
              <a:t>سؤال المستخدم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User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828800"/>
            <a:ext cx="19202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Segoe UI"/>
              </a:defRPr>
            </a:pPr>
            <a:r>
              <a:t>كشف الخطر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Safety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1920240" cy="54864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A0"/>
                </a:solidFill>
                <a:latin typeface="Segoe UI"/>
              </a:defRPr>
            </a:pPr>
            <a:r>
              <a:t>قاعدة المعرفة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Internal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1920240" cy="54864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94A6"/>
                </a:solidFill>
                <a:latin typeface="Segoe UI"/>
              </a:defRPr>
            </a:pPr>
            <a:r>
              <a:t>بحث الويب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Web search*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192024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3C"/>
                </a:solidFill>
                <a:latin typeface="Segoe UI"/>
              </a:defRPr>
            </a:pPr>
            <a: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1828800"/>
            <a:ext cx="1920240" cy="128016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89920" y="1828800"/>
            <a:ext cx="1920240" cy="54864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A0"/>
                </a:solidFill>
                <a:latin typeface="Segoe UI"/>
              </a:defRPr>
            </a:pPr>
            <a:r>
              <a:t>تحقق المصدر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Cite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3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3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3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3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3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74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Safety first: كشف فوري للخطورة (عنف، أدوية، طوارئ) → تحويل لأرقام الطوارئ المحلية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Internal first: الجواب يُبنى من قاعدة معرفة داخلية أولاً — لا هلوسة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Web search شرطي: يُفعَّل فقط إذا كان السؤال يتطلب معلومة حديثة/خارجية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Citation validation: كل ادعاء يجب أن يدعمه مصدر — وإلا يُحذف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Honest modes: 'لا أعرف' و 'المصدر غير متاح' و 'هذا رأي شخصي' — كلها مسموحة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• * بحث الويب معطّل حالياً (لا مفاتيح API) — الوضع الصادق: 'غير مهيّأ'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الأمان والثقة  ·  Safety &amp; Trust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🔍 لا اختراع أبداً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لا نخترع أسعاراً، تقييمات، أرقام طوارئ، أو معلومات غير موثّقة. كل ادعاء يُذكر مصدره.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🛡 إشراف fail-closed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إذا فشل الـ AI في المراجعة → مراجعة بشرية تلقائياً. لا نشر تلقائي للمحتوى غير المفحوص.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🔐 خصوصية تامة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بياناتك ملكك. لا نشارك مع طرف ثالث. يمكنك حذف كل شيء في أي وقت.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📝 تتبّع كامل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كل عملية نشر، تعديل، حذف تُسجَّل في audit log. لا فعل بلا أثر.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⚖️ تقييم عادل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متوسّط Bayesian يمنع التلاعب. لا يستطيع أحد تقييم نفسه.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🚨 حماية الأطفال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وضع أطفال بمحرّكات محتوى صارمة + حظر PII + قوائم رفض.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البنية التقنية  ·  Technical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"/>
            <a:ext cx="11247120" cy="10058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" cy="10058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4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3C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Next.js 16 · React 19 · Tailwind · TypeScript strict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47120" cy="10058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09728" cy="1005840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A0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27 API routes · Zod validation · rate limiting · 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1247120" cy="10058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109728" cy="10058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3C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Gemini 2.5 · safety rules · web search · PDF parse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0058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09728" cy="1005840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A0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Supabase PostgreSQL · RLS · triggers · migrations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94960"/>
            <a:ext cx="11247120" cy="10058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109728" cy="100584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A94A6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Supabase Storage · private buckets · signed URLs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الأمانة العلمية  ·  Honesty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What we promise the judges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لا معلومات مخترعة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كل رقم أو معلومة إما مصدرها مذكور أو مكتوب 'غير متوفر في المصادر'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لا ادعاءات إنقاذ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488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طبقة الأمان لا تدّعي أبداً أنها أرسلت مساعدة — توجّه فقط لأرقام الطوارئ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وضع صادق للبحث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بلا مفاتيح API → البحث يقول 'غير مهيّأ' بدل أن يتظاهر بالعمل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ترجمة آلية معلَّمة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86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كل ترجمة تحمل تنبيهاً 'ترجمة آلية — راجع قبل النشر'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أخطاء معترف بها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7548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نذكر حدود المنصّة بوضوح: ما يعمل، ما معطّل، وما قيد التطوير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CA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مفتوح المصدر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623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الكود كاملاً على GitHub — يمكن لأي حكم فحص كل سطر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تجربة المستخدم  ·  UX Walkthrough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645920"/>
            <a:ext cx="731520" cy="73152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الدخول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زائر مباشرة · مستخدم بحساب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1645920"/>
            <a:ext cx="731520" cy="731520"/>
          </a:xfrm>
          <a:prstGeom prst="ellipse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الاستكشاف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تصفح أو بحث أو خريطة أو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800600" y="1645920"/>
            <a:ext cx="731520" cy="73152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التفاعل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أضف للمفضلة · خطة رحلة · اسأل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1645920"/>
            <a:ext cx="731520" cy="731520"/>
          </a:xfrm>
          <a:prstGeom prst="ellipse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النشر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ارفع PDF · راجع · انشر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1645920"/>
            <a:ext cx="731520" cy="73152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القراءة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قارئ مدمج · ترجمة · ملاحظات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561320" y="1645920"/>
            <a:ext cx="731520" cy="731520"/>
          </a:xfrm>
          <a:prstGeom prst="ellipse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1724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المجتمع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تقييم · تقرير · إشراف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3474720" cy="21031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224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3C"/>
                </a:solidFill>
                <a:latin typeface="Segoe UI"/>
              </a:defRPr>
            </a:pPr>
            <a:r>
              <a:t>🌐 18 لغة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1772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عربي، إنجليزي، كردي، فارسي، تركي، فرنسي، إسباني، ألماني، روسي، برتغالي، إيطالي، صيني، ياباني، كوري، هندي، أردوي، إندونيسي، مجري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4114800"/>
            <a:ext cx="3474720" cy="21031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224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3C"/>
                </a:solidFill>
                <a:latin typeface="Segoe UI"/>
              </a:defRPr>
            </a:pPr>
            <a:r>
              <a:t>♿ إتاحة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61772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RTL/LTR تلقائي · تباين AA · قارئ شاشة · لوحة مفاتيح · وضع كبار السن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4114800"/>
            <a:ext cx="3474720" cy="210312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4224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3C"/>
                </a:solidFill>
                <a:latin typeface="Segoe UI"/>
              </a:defRPr>
            </a:pPr>
            <a:r>
              <a:t>📱 تجاوب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59" y="461772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EFE1"/>
                </a:solidFill>
                <a:latin typeface="Segoe UI"/>
              </a:defRPr>
            </a:pPr>
            <a:r>
              <a:t>موبايل · تابلت · سطح مكتب — تصميم متجاوب بالكامل مع CSS Grid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الأثر والقابلية للتوسّع  ·  Impact &amp;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03C"/>
                </a:solidFill>
                <a:latin typeface="Segoe UI"/>
              </a:defRPr>
            </a:pPr>
            <a:r>
              <a:t>561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مفتاح ترجمة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4A6"/>
                </a:solidFill>
                <a:latin typeface="Segoe UI"/>
              </a:defRPr>
            </a:pPr>
            <a:r>
              <a:t>× 18 لغة = 10,098 نص مترجم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51760" cy="20116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CCA0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اختبار ناجح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4A6"/>
                </a:solidFill>
                <a:latin typeface="Segoe UI"/>
              </a:defRPr>
            </a:pPr>
            <a:r>
              <a:t>تغطية شاملة للمنطق الأساسي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651760" cy="20116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03C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API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4A6"/>
                </a:solidFill>
                <a:latin typeface="Segoe UI"/>
              </a:defRPr>
            </a:pPr>
            <a:r>
              <a:t>منشور · مكتبة · استوديو · أطفال · باسبور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371600"/>
            <a:ext cx="2651760" cy="201168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651760" cy="54864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CCA0"/>
                </a:solidFill>
                <a:latin typeface="Segoe UI"/>
              </a:defRPr>
            </a:pPr>
            <a:r>
              <a:t>70+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EFE1"/>
                </a:solidFill>
                <a:latin typeface="Segoe UI"/>
              </a:defRPr>
            </a:pPr>
            <a:r>
              <a:t>صفحة/شاشة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4A6"/>
                </a:solidFill>
                <a:latin typeface="Segoe UI"/>
              </a:defRPr>
            </a:pPr>
            <a:r>
              <a:t>من الأطلس إلى الاستوديو إلى الأطفال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🌍 التوسّع الجغرافي: كل موقع تراثي في العالم يمكن إضافته — البنية جاهزة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🗣 التوسّع اللغوي: أي لغة جديدة = ملف ترجمة واحد — لا تغيير في الكود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📈 التوسّع الوظيفي: وضع家喻户فات · ألعاب تعليمية · واجهات API للمطورين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☁️ النشر: Vercel + Supabase — يتصاعد تلقائياً بلا خوادم مخصّصة</a:t>
            </a:r>
          </a:p>
          <a:p>
            <a:pPr>
              <a:spcAft>
                <a:spcPts val="10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💰 التكلفة: Gemini المجاني كافٍ للإطلاق — البحث.getExternal() اختياري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الجولة السريعة  ·  Live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60-second tour for judges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الصفحة الرئيسية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تصفح سريعة · 10 بطاقات · تغيير اللغة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0:10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ATHAR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اسأل: 'اشرح بابل' → جواب موثّق بالمصادر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0:20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الخريطة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خريطة العراق التفاعلية · علامات المواقع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0:30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MIKTUBATI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تصفح المكتبة · ابحث · اقرأ عملاً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0:40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النشر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97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ارفع PDF → راجع → انشر (يحتاج حساباً)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0"/>
                </a:solidFill>
                <a:latin typeface="Segoe UI"/>
              </a:defRPr>
            </a:pPr>
            <a:r>
              <a:t>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وضع الأطفال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قصص ومسابقات مخصّصة — آمنة تماماً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1:00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اللغات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60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غيّر لغة الواجهة — كل شيء يتحدّث فوراً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ما يميّزنا  ·  What Makes Us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7772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🌍 عربي أولاً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غير مترجم عن الإنجليزية — مصمّم للعربية من الأساس مع RTL أصلي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39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39"/>
            <a:ext cx="91440" cy="777240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🤖 AI بحدود واضحة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نعرف متى نقول 'لا أعرف' — وهذا أقوى من إجابة وهمية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🛡 إشراف حقيقي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لا محتوى يُنشر بلا مراجعة — قواعد + AI + بشري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📖 تراث + أدب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7763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منصّتان متكاملتان: تستكشف التاريخ وتقرأ الأدب في مكان واحد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79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46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♿ إتاحة كاملة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4631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18 لغة · RTL · كبار السن · قارئ شاشة · لوحة مفاتيح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23560"/>
            <a:ext cx="11247120" cy="77724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623560"/>
            <a:ext cx="91440" cy="777240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🔬 قابل للإثبات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15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FE1"/>
                </a:solidFill>
                <a:latin typeface="Segoe UI"/>
              </a:defRPr>
            </a:pPr>
            <a:r>
              <a:t>134 اختبار · TypeScript strict · audit log كامل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خارطة الطريق  · 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3C"/>
                </a:solidFill>
                <a:latin typeface="Segoe UI"/>
              </a:defRPr>
            </a:pPr>
            <a:r>
              <a:t>الآن  · 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✅ أطلس تراثي + AI + خريطة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✅ مكتبة رقمية + نشر + قارئ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✅ 18 لغة + RTL/LTR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✅ إشراف AI + بشري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✅ وضع أطفال + كبار السن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2E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A0"/>
                </a:solidFill>
                <a:latin typeface="Segoe UI"/>
              </a:defRPr>
            </a:pPr>
            <a:r>
              <a:t>قريباً  · 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🔮 بحث ويب (بمفاتيح API)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🔮 تطبيق موبايل (PWA)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🔮 ألعاب تعليمية للطلاب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🔮 وضع تقديمات للمسارحين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🔮 API للمطوّرين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94A6"/>
                </a:solidFill>
                <a:latin typeface="Segoe UI"/>
              </a:defRPr>
            </a:pPr>
            <a:r>
              <a:t>المستقبل  ·  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🌍 توسيع لأتراث دول أخرى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🤝 شراكات مع المتاحف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🎓 تكامل مع المناهج الدراسية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🎙 إضافة صوت + فيديو</a:t>
            </a:r>
          </a:p>
          <a:p>
            <a:pPr>
              <a:spcAft>
                <a:spcPts val="1200"/>
              </a:spcAft>
              <a:defRPr sz="1400">
                <a:solidFill>
                  <a:srgbClr val="F5EFE1"/>
                </a:solidFill>
                <a:latin typeface="Segoe UI"/>
              </a:defRPr>
            </a:pPr>
            <a:r>
              <a:t>🧩 وضع Offline كامل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3C"/>
                </a:solidFill>
                <a:latin typeface="Segoe UI"/>
              </a:defRPr>
            </a:pPr>
            <a:r>
              <a:t>الفريق والتواصل  ·  Team &amp;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03C"/>
                </a:solidFill>
                <a:latin typeface="Segoe UI"/>
              </a:defRPr>
            </a:pPr>
            <a:r>
              <a:t>فريق مورس  ·  Mors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EFE1"/>
                </a:solidFill>
                <a:latin typeface="Segoe UI"/>
              </a:defRPr>
            </a:pPr>
            <a:r>
              <a:t>مطوّرون · مصمّمون · باحثون في التراث العربي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743200"/>
            <a:ext cx="484632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474720" cy="2743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10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📧 التواصل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team@mors.dev</a:t>
            </a:r>
            <a:br/>
            <a:r>
              <a:t>GitHub: github.com/mors-team</a:t>
            </a:r>
            <a:br/>
            <a:r>
              <a:t>Twitter: @MorsHeritage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200400"/>
            <a:ext cx="3474720" cy="2743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310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💻 المصدر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7033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الكود مفتوح بالكامل</a:t>
            </a:r>
            <a:br/>
            <a:r>
              <a:t>MIT License</a:t>
            </a:r>
            <a:br/>
            <a:r>
              <a:t>يمكن للحكام فحص كل سطر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200400"/>
            <a:ext cx="3474720" cy="2743200"/>
          </a:xfrm>
          <a:prstGeom prst="roundRect">
            <a:avLst/>
          </a:prstGeom>
          <a:solidFill>
            <a:srgbClr val="1A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310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3C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3C"/>
                </a:solidFill>
                <a:latin typeface="Segoe UI"/>
              </a:defRPr>
            </a:pPr>
            <a:r>
              <a:t>🚀 التجربة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033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FE1"/>
                </a:solidFill>
                <a:latin typeface="Segoe UI"/>
              </a:defRPr>
            </a:pPr>
            <a:r>
              <a:t>localhost:3000</a:t>
            </a:r>
            <a:br/>
            <a:r>
              <a:t>يعمل محلياً بلا إنترنت</a:t>
            </a:r>
            <a:br/>
            <a:r>
              <a:t>(باستثناء Gemini)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3C"/>
                </a:solidFill>
                <a:latin typeface="Segoe UI"/>
              </a:defRPr>
            </a:pPr>
            <a:r>
              <a:t>شكراً لكم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EFE1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94A6"/>
                </a:solidFill>
                <a:latin typeface="Segoe UI"/>
              </a:defRPr>
            </a:pPr>
            <a:r>
              <a:t>"اقرأ. اكتب. اترك أثراً."</a:t>
            </a:r>
            <a:br/>
            <a:r>
              <a:t>"Read. Write. Leave your trace."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فريق مورس  ·  Mors Team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Segoe UI"/>
              </a:defRPr>
            </a:pPr>
            <a:r>
              <a:t>أسئلتكم مرحّب بها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